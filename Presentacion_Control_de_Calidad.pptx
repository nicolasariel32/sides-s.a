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xml" ContentType="application/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 userDrawn="1">
          <p15:clr>
            <a:srgbClr val="A4A3A4"/>
          </p15:clr>
        </p15:guide>
        <p15:guide id="1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Marcador de posición de fecha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Marcador de posición de imagen de diapositiva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Marcador de posición de notas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 altLang="en-US"/>
              <a:t>Haga clic para modificar los estilos de texto del patrón</a:t>
            </a:r>
            <a:endParaRPr lang="en-US"/>
          </a:p>
          <a:p>
            <a:pPr lvl="1"/>
            <a:r>
              <a:rPr lang="es-MX" altLang="en-US"/>
              <a:t>Segundo nivel</a:t>
            </a:r>
            <a:endParaRPr lang="en-US"/>
          </a:p>
          <a:p>
            <a:pPr lvl="2"/>
            <a:r>
              <a:rPr lang="es-MX" altLang="en-US"/>
              <a:t>Tercer nivel</a:t>
            </a:r>
            <a:endParaRPr lang="en-US"/>
          </a:p>
          <a:p>
            <a:pPr lvl="3"/>
            <a:r>
              <a:rPr lang="es-MX" altLang="en-US"/>
              <a:t>Cuarto nivel</a:t>
            </a:r>
            <a:endParaRPr lang="en-US"/>
          </a:p>
          <a:p>
            <a:pPr lvl="4"/>
            <a:r>
              <a:rPr lang="es-MX" altLang="en-US"/>
              <a:t>Quinto nivel</a:t>
            </a:r>
            <a:endParaRPr lang="en-US"/>
          </a:p>
        </p:txBody>
      </p:sp>
      <p:sp>
        <p:nvSpPr>
          <p:cNvPr id="6" name="Marcador de posición de pie de página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Marcador de posición de número de diapositiva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A9F1D14-FCCC-4D5D-BA9F-560339115F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879E1F5-79F2-401E-8E2E-71D6ACA408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AAF65E4-3259-4EBB-BFCE-6B1613CB1B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E5AB6B-3D88-4698-8B56-213991BECB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CF49123-F113-4B7C-9200-D855E11337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9CA5336-0555-4081-B6B9-6338B34AB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D0C7A45-6002-46CC-AD4A-D999ABEFA4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1121C0B-338E-43F8-8EF6-3889290C2B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Marcador de posición de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Marcador de posición de número de diapositiva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17374BE-EA75-45E0-823B-8447D558A6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600" b="1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166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1100" b="1">
                <a:solidFill>
                  <a:srgbClr val="FFFFFF"/>
                </a:solidFill>
                <a:latin typeface="Trebuchet MS"/>
              </a:rPr>
              <a:t>22/06/2026</a:t>
            </a:r>
            <a:endParaRPr sz="1100" b="1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8703A"/>
                </a:solidFill>
                <a:latin typeface="Trebuchet MS"/>
              </a:rPr>
              <a:t>INICIATIVA DE MEJORA · CONTROL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Trebuchet MS"/>
              </a:rPr>
              <a:t>Del sistema de macros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Trebuchet MS"/>
              </a:rPr>
              <a:t>a un sistema digital de control de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8D6E2"/>
                </a:solidFill>
                <a:latin typeface="Calibri"/>
              </a:rPr>
              <a:t>Sistema de trazabilidad de pruebas de estanqueidad — cabezales de soda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0">
              <a:solidFill>
                <a:srgbClr val="E8703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B7A"/>
                </a:solidFill>
                <a:latin typeface="Calibri"/>
              </a:rPr>
              <a:t>Nicolás Giménez  ·  Junio 2026  ·  Uso interno — SIDES S.A.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A"/>
                </a:solidFill>
                <a:latin typeface="Trebuchet MS"/>
              </a:rPr>
              <a:t>Trazabilidad · Cabezales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3D5C"/>
                </a:solidFill>
                <a:latin typeface="Trebuchet MS"/>
              </a:rPr>
              <a:t>De qué se trata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C2733"/>
                </a:solidFill>
                <a:latin typeface="Calibri"/>
              </a:rPr>
              <a:t>El control de calidad de cabezales se hace hoy con planillas y macros con años de uso: va lento, obliga a recargar los mismos datos y se presta a errores. Se desarrolló un sistema digital que lo reemplaza.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081528"/>
            <a:ext cx="201168" cy="201168"/>
          </a:xfrm>
          <a:prstGeom prst="ellipse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0632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3D5C"/>
                </a:solidFill>
                <a:latin typeface="Calibri"/>
              </a:rPr>
              <a:t>Más rápido de cargar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C2733"/>
                </a:solidFill>
                <a:latin typeface="Calibri"/>
              </a:rPr>
              <a:t>De ~14 datos por control a 3 datos + las mediciones; lo fijo del turno se carga una sola vez.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922776"/>
            <a:ext cx="201168" cy="201168"/>
          </a:xfrm>
          <a:prstGeom prst="ellipse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90448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3D5C"/>
                </a:solidFill>
                <a:latin typeface="Calibri"/>
              </a:rPr>
              <a:t>Cálculos automáticos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C2733"/>
                </a:solidFill>
                <a:latin typeface="Calibri"/>
              </a:rPr>
              <a:t>La merma y los recuperados se calculan solos: un dato de costo más confiable.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745736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3D5C"/>
                </a:solidFill>
                <a:latin typeface="Calibri"/>
              </a:rPr>
              <a:t>Ordenado y trazable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C2733"/>
                </a:solidFill>
                <a:latin typeface="Calibri"/>
              </a:rPr>
              <a:t>Una máquina, un inspector. Queda registrado quién controló qué y cuándo.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605272"/>
            <a:ext cx="201168" cy="201168"/>
          </a:xfrm>
          <a:prstGeom prst="ellipse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586984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3D5C"/>
                </a:solidFill>
                <a:latin typeface="Calibri"/>
              </a:rPr>
              <a:t>A la vista —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C2733"/>
                </a:solidFill>
                <a:latin typeface="Calibri"/>
              </a:rPr>
              <a:t>Tablero del turno en vivo y circuito de rechazos que se abre, recontrola y cierra.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A"/>
                </a:solidFill>
                <a:latin typeface="Trebuchet MS"/>
              </a:rPr>
              <a:t>Trazabilidad · Cabezales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F3D5C"/>
                </a:solidFill>
                <a:latin typeface="Trebuchet MS"/>
              </a:rPr>
              <a:t>Antes (macros)  →  Ahora (sistema)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389120"/>
              </a:tblGrid>
              <a:tr h="566928">
                <a:tc>
                  <a:txBody>
                    <a:bodyPr lIns="109728" tIns="36576" rIns="91440" bIns="36576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109728" marT="36576" marB="36576" anchor="ctr">
                    <a:solidFill>
                      <a:srgbClr val="0F3D5C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Antes — planillas y macros</a:t>
                      </a:r>
                    </a:p>
                  </a:txBody>
                  <a:tcPr marL="109728" marT="36576" marB="36576" anchor="ctr">
                    <a:solidFill>
                      <a:srgbClr val="0F3D5C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Ahora — sistema digital</a:t>
                      </a:r>
                    </a:p>
                  </a:txBody>
                  <a:tcPr marL="109728" marT="36576" marB="36576" anchor="ctr">
                    <a:solidFill>
                      <a:srgbClr val="0F3D5C"/>
                    </a:solidFill>
                  </a:tcPr>
                </a:tc>
              </a:tr>
              <a:tr h="566928"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 b="1">
                          <a:solidFill>
                            <a:srgbClr val="0F3D5C"/>
                          </a:solidFill>
                          <a:latin typeface="Calibri"/>
                        </a:rPr>
                        <a:t>Carga de cada control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9A4637"/>
                          </a:solidFill>
                          <a:latin typeface="Calibri"/>
                        </a:rPr>
                        <a:t>~14 datos repetidos por registro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1C7A3C"/>
                          </a:solidFill>
                          <a:latin typeface="Calibri"/>
                        </a:rPr>
                        <a:t>3 datos + 8 mediciones; lo fijo, 1 vez por turno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 b="1">
                          <a:solidFill>
                            <a:srgbClr val="0F3D5C"/>
                          </a:solidFill>
                          <a:latin typeface="Calibri"/>
                        </a:rPr>
                        <a:t>Merma y recuperados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9A4637"/>
                          </a:solidFill>
                          <a:latin typeface="Calibri"/>
                        </a:rPr>
                        <a:t>A mano en la macro: lento y con error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1C7A3C"/>
                          </a:solidFill>
                          <a:latin typeface="Calibri"/>
                        </a:rPr>
                        <a:t>Automático (ej.: 2.208 kg de merma)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</a:tr>
              <a:tr h="566928"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 b="1">
                          <a:solidFill>
                            <a:srgbClr val="0F3D5C"/>
                          </a:solidFill>
                          <a:latin typeface="Calibri"/>
                        </a:rPr>
                        <a:t>No conformidades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9A4637"/>
                          </a:solidFill>
                          <a:latin typeface="Calibri"/>
                        </a:rPr>
                        <a:t>Datos sueltos en varias planillas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1C7A3C"/>
                          </a:solidFill>
                          <a:latin typeface="Calibri"/>
                        </a:rPr>
                        <a:t>Registrado y trazable; aparece solo si hace falta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 b="1">
                          <a:solidFill>
                            <a:srgbClr val="0F3D5C"/>
                          </a:solidFill>
                          <a:latin typeface="Calibri"/>
                        </a:rPr>
                        <a:t>Recontrol de rechazos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9A4637"/>
                          </a:solidFill>
                          <a:latin typeface="Calibri"/>
                        </a:rPr>
                        <a:t>Seguimiento manual, se pierde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lang="es-MX" sz="1100">
                          <a:solidFill>
                            <a:srgbClr val="1C7A3C"/>
                          </a:solidFill>
                          <a:latin typeface="Calibri"/>
                        </a:rPr>
                        <a:t>Usuario</a:t>
                      </a:r>
                      <a:r>
                        <a:rPr sz="1100">
                          <a:solidFill>
                            <a:srgbClr val="1C7A3C"/>
                          </a:solidFill>
                          <a:latin typeface="Calibri"/>
                        </a:rPr>
                        <a:t>: abre → recontrola → cierra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</a:tr>
              <a:tr h="566928"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 b="1">
                          <a:solidFill>
                            <a:srgbClr val="0F3D5C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lang="es-MX" sz="1100">
                          <a:solidFill>
                            <a:srgbClr val="9A4637"/>
                          </a:solidFill>
                          <a:latin typeface="Calibri"/>
                        </a:rPr>
                        <a:t>se detalla en cada control</a:t>
                      </a:r>
                      <a:endParaRPr sz="1100">
                        <a:solidFill>
                          <a:srgbClr val="9A4637"/>
                        </a:solidFill>
                        <a:latin typeface="Calibri"/>
                      </a:endParaRP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lang="es-MX" sz="1100">
                          <a:solidFill>
                            <a:srgbClr val="1C7A3C"/>
                          </a:solidFill>
                          <a:latin typeface="Calibri"/>
                        </a:rPr>
                        <a:t>se designa al inicio de turno por única vez</a:t>
                      </a:r>
                      <a:endParaRPr sz="1100">
                        <a:solidFill>
                          <a:srgbClr val="1C7A3C"/>
                        </a:solidFill>
                        <a:latin typeface="Calibri"/>
                      </a:endParaRP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 b="1">
                          <a:solidFill>
                            <a:srgbClr val="0F3D5C"/>
                          </a:solidFill>
                          <a:latin typeface="Calibri"/>
                        </a:rPr>
                        <a:t>Visibilidad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9A4637"/>
                          </a:solidFill>
                          <a:latin typeface="Calibri"/>
                        </a:rPr>
                        <a:t>Hay que armar planillas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  <a:tc>
                  <a:txBody>
                    <a:bodyPr lIns="109728" tIns="36576" rIns="91440" bIns="36576" anchor="ctr"/>
                    <a:lstStyle/>
                    <a:p>
                      <a:r>
                        <a:rPr sz="1100">
                          <a:solidFill>
                            <a:srgbClr val="1C7A3C"/>
                          </a:solidFill>
                          <a:latin typeface="Calibri"/>
                        </a:rPr>
                        <a:t>Tablero del turno en vivo</a:t>
                      </a:r>
                    </a:p>
                  </a:txBody>
                  <a:tcPr marL="109728" marT="36576" marB="36576" anchor="ctr">
                    <a:solidFill>
                      <a:srgbClr val="F3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A"/>
                </a:solidFill>
                <a:latin typeface="Trebuchet MS"/>
              </a:rPr>
              <a:t>Trazabilidad · Cabezales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393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3D5C"/>
                </a:solidFill>
                <a:latin typeface="Trebuchet MS"/>
              </a:rPr>
              <a:t>Configuración del turno </a:t>
            </a:r>
            <a:r>
              <a:rPr lang="es-MX" sz="2600" b="1">
                <a:solidFill>
                  <a:srgbClr val="0F3D5C"/>
                </a:solidFill>
                <a:latin typeface="Trebuchet MS"/>
              </a:rPr>
              <a:t>del inspector de calidad</a:t>
            </a:r>
            <a:r>
              <a:rPr sz="2600" b="1">
                <a:solidFill>
                  <a:srgbClr val="0F3D5C"/>
                </a:solidFill>
                <a:latin typeface="Trebuchet MS"/>
              </a:rPr>
              <a:t>(</a:t>
            </a:r>
            <a:r>
              <a:rPr lang="es-MX" sz="2600" b="1">
                <a:solidFill>
                  <a:srgbClr val="0F3D5C"/>
                </a:solidFill>
                <a:latin typeface="Trebuchet MS"/>
              </a:rPr>
              <a:t>inicio de turno</a:t>
            </a:r>
            <a:r>
              <a:rPr sz="2600" b="1">
                <a:solidFill>
                  <a:srgbClr val="0F3D5C"/>
                </a:solidFill>
                <a:latin typeface="Trebuchet MS"/>
              </a:rPr>
              <a:t>)</a:t>
            </a:r>
          </a:p>
        </p:txBody>
      </p:sp>
      <p:pic>
        <p:nvPicPr>
          <p:cNvPr id="5" name="Picture 4" descr="CONFIGURACION DE TURNO-SISTEMA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26619" y="1783080"/>
            <a:ext cx="8354000" cy="3703320"/>
          </a:xfrm>
          <a:prstGeom prst="rect">
            <a:avLst/>
          </a:prstGeom>
          <a:ln w="12700">
            <a:solidFill>
              <a:srgbClr val="D7E2E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669280"/>
            <a:ext cx="10607040" cy="610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2000" b="0">
                <a:solidFill>
                  <a:srgbClr val="1C2733"/>
                </a:solidFill>
                <a:latin typeface="Calibri"/>
              </a:rPr>
              <a:t>En la imagen se detalla: Como</a:t>
            </a:r>
            <a:r>
              <a:rPr sz="2000" b="0">
                <a:solidFill>
                  <a:srgbClr val="1C2733"/>
                </a:solidFill>
                <a:latin typeface="Calibri"/>
              </a:rPr>
              <a:t> elige el turno y se asigna un inspector a cada máquina. “Una máquina, un inspector”: queda claro quién controla qué. Usuario único para el personal de calidad.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A"/>
                </a:solidFill>
                <a:latin typeface="Trebuchet MS"/>
              </a:rPr>
              <a:t>Trazabilidad · Cabezales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3D5C"/>
                </a:solidFill>
                <a:latin typeface="Trebuchet MS"/>
              </a:rPr>
              <a:t>Tablero de máquinas en vivo</a:t>
            </a:r>
          </a:p>
        </p:txBody>
      </p:sp>
      <p:pic>
        <p:nvPicPr>
          <p:cNvPr id="5" name="Picture 4" descr="RECONTROL.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92161" y="1783080"/>
            <a:ext cx="8222917" cy="3703320"/>
          </a:xfrm>
          <a:prstGeom prst="rect">
            <a:avLst/>
          </a:prstGeom>
          <a:ln w="12700">
            <a:solidFill>
              <a:srgbClr val="D7E2E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669280"/>
            <a:ext cx="10607040" cy="610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C2733"/>
                </a:solidFill>
                <a:latin typeface="Calibri"/>
              </a:rPr>
              <a:t>El inspector toca una máquina para registrar el control. Arriba, los contadores del turno: registros, no conformes y máquinas activas. Visibilidad inmediata, sin pedir planillas.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A"/>
                </a:solidFill>
                <a:latin typeface="Trebuchet MS"/>
              </a:rPr>
              <a:t>Trazabilidad · Cabezales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3D5C"/>
                </a:solidFill>
                <a:latin typeface="Trebuchet MS"/>
              </a:rPr>
              <a:t>Listado de control de calidad del turno</a:t>
            </a:r>
          </a:p>
        </p:txBody>
      </p:sp>
      <p:pic>
        <p:nvPicPr>
          <p:cNvPr id="5" name="Picture 4" descr="RECONTROL2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07329" y="1783080"/>
            <a:ext cx="8192581" cy="3703320"/>
          </a:xfrm>
          <a:prstGeom prst="rect">
            <a:avLst/>
          </a:prstGeom>
          <a:ln w="12700">
            <a:solidFill>
              <a:srgbClr val="D7E2E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669280"/>
            <a:ext cx="10607040" cy="610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C2733"/>
                </a:solidFill>
                <a:latin typeface="Calibri"/>
              </a:rPr>
              <a:t>Todos los controles con su resultado (OK / No conforme), apertura y largo, por máquina y lote.</a:t>
            </a:r>
            <a:br>
              <a:rPr lang="es-MX" sz="2000" b="0">
                <a:solidFill>
                  <a:srgbClr val="1C2733"/>
                </a:solidFill>
                <a:latin typeface="Calibri"/>
              </a:rPr>
            </a:br>
            <a:r>
              <a:rPr lang="es-MX" sz="2000" b="0">
                <a:solidFill>
                  <a:srgbClr val="1C2733"/>
                </a:solidFill>
                <a:latin typeface="Calibri"/>
              </a:rPr>
              <a:t>Podes seleccionar la vista de todas o por máquina.</a:t>
            </a:r>
            <a:r>
              <a:rPr sz="2000" b="0">
                <a:solidFill>
                  <a:srgbClr val="1C2733"/>
                </a:solidFill>
                <a:latin typeface="Calibri"/>
              </a:rPr>
              <a:t> Reemplaz</a:t>
            </a:r>
            <a:r>
              <a:rPr lang="es-MX" sz="2000" b="0">
                <a:solidFill>
                  <a:srgbClr val="1C2733"/>
                </a:solidFill>
                <a:latin typeface="Calibri"/>
              </a:rPr>
              <a:t>aría</a:t>
            </a:r>
            <a:r>
              <a:rPr sz="2000" b="0">
                <a:solidFill>
                  <a:srgbClr val="1C2733"/>
                </a:solidFill>
                <a:latin typeface="Calibri"/>
              </a:rPr>
              <a:t> la planilla de macros.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A"/>
                </a:solidFill>
                <a:latin typeface="Trebuchet MS"/>
              </a:rPr>
              <a:t>Trazabilidad · Cabezales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3D5C"/>
                </a:solidFill>
                <a:latin typeface="Trebuchet MS"/>
              </a:rPr>
              <a:t>Cola de recontrol de rechazos</a:t>
            </a:r>
          </a:p>
        </p:txBody>
      </p:sp>
      <p:pic>
        <p:nvPicPr>
          <p:cNvPr id="5" name="Picture 4" descr="RECONTROL3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10590" y="1783080"/>
            <a:ext cx="8186059" cy="3703320"/>
          </a:xfrm>
          <a:prstGeom prst="rect">
            <a:avLst/>
          </a:prstGeom>
          <a:ln w="12700">
            <a:solidFill>
              <a:srgbClr val="D7E2E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669280"/>
            <a:ext cx="10607040" cy="610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C2733"/>
                </a:solidFill>
                <a:latin typeface="Calibri"/>
              </a:rPr>
              <a:t>Cada rechazo abierto por calidad cae acá. El circuito queda ordenado: se abre, se recontrola y se cierra. Nada se pierde.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A"/>
                </a:solidFill>
                <a:latin typeface="Trebuchet MS"/>
              </a:rPr>
              <a:t>Trazabilidad · Cabezales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3D5C"/>
                </a:solidFill>
                <a:latin typeface="Trebuchet MS"/>
              </a:rPr>
              <a:t>Recontrol con cálculos automáticos</a:t>
            </a:r>
          </a:p>
        </p:txBody>
      </p:sp>
      <p:pic>
        <p:nvPicPr>
          <p:cNvPr id="5" name="Picture 4" descr="RECONTROL4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96457" y="1783080"/>
            <a:ext cx="8214324" cy="3703320"/>
          </a:xfrm>
          <a:prstGeom prst="rect">
            <a:avLst/>
          </a:prstGeom>
          <a:ln w="12700">
            <a:solidFill>
              <a:srgbClr val="D7E2E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669280"/>
            <a:ext cx="10607040" cy="915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s-MX" sz="2000" b="0">
                <a:solidFill>
                  <a:srgbClr val="1C2733"/>
                </a:solidFill>
                <a:latin typeface="Calibri"/>
              </a:rPr>
              <a:t>Hace los cálculos automáticos para la toma</a:t>
            </a:r>
            <a:r>
              <a:rPr lang="es-MX" sz="2000" b="0">
                <a:solidFill>
                  <a:srgbClr val="1C2733"/>
                </a:solidFill>
                <a:latin typeface="Calibri"/>
              </a:rPr>
              <a:t> de datos:</a:t>
            </a:r>
            <a:br>
              <a:rPr lang="es-MX" sz="2000" b="0">
                <a:solidFill>
                  <a:srgbClr val="1C2733"/>
                </a:solidFill>
                <a:latin typeface="Calibri"/>
              </a:rPr>
            </a:br>
            <a:r>
              <a:rPr lang="es-MX" sz="2000" b="0">
                <a:solidFill>
                  <a:srgbClr val="1C2733"/>
                </a:solidFill>
                <a:latin typeface="Calibri"/>
              </a:rPr>
              <a:t>T</a:t>
            </a:r>
            <a:r>
              <a:rPr sz="2000" b="0">
                <a:solidFill>
                  <a:srgbClr val="1C2733"/>
                </a:solidFill>
                <a:latin typeface="Calibri"/>
              </a:rPr>
              <a:t>otal, recuperados, descartados y merma (kg) se calculan solos. Ejemplo: 1.344 cabezales → 1.224 recuperados, 120 descartados, 2.208 kg de merma.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310896" cy="310896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49377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6B7A"/>
                </a:solidFill>
                <a:latin typeface="Trebuchet MS"/>
              </a:rPr>
              <a:t>Trazabilidad · Cabezales Soda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3D5C"/>
                </a:solidFill>
                <a:latin typeface="Trebuchet MS"/>
              </a:rPr>
              <a:t>Cierre del recontrol</a:t>
            </a:r>
          </a:p>
        </p:txBody>
      </p:sp>
      <p:pic>
        <p:nvPicPr>
          <p:cNvPr id="5" name="Picture 4" descr="RECONTROL5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60959" y="1783080"/>
            <a:ext cx="8285321" cy="3703320"/>
          </a:xfrm>
          <a:prstGeom prst="rect">
            <a:avLst/>
          </a:prstGeom>
          <a:ln w="12700">
            <a:solidFill>
              <a:srgbClr val="D7E2E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669280"/>
            <a:ext cx="10607040" cy="610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C2733"/>
                </a:solidFill>
                <a:latin typeface="Calibri"/>
              </a:rPr>
              <a:t>Se marcan los defectos que persisten y, si quedó a medias</a:t>
            </a:r>
            <a:r>
              <a:rPr lang="es-MX" sz="2000" b="0">
                <a:solidFill>
                  <a:srgbClr val="1C2733"/>
                </a:solidFill>
                <a:latin typeface="Calibri"/>
              </a:rPr>
              <a:t> el recontrol</a:t>
            </a:r>
            <a:r>
              <a:rPr sz="2000" b="0">
                <a:solidFill>
                  <a:srgbClr val="1C2733"/>
                </a:solidFill>
                <a:latin typeface="Calibri"/>
              </a:rPr>
              <a:t>, no se archiva hasta terminarlo. La merma queda registrada </a:t>
            </a:r>
            <a:r>
              <a:rPr lang="es-MX" sz="2000" b="0">
                <a:solidFill>
                  <a:srgbClr val="1C2733"/>
                </a:solidFill>
                <a:latin typeface="Calibri"/>
              </a:rPr>
              <a:t>se puede utilizar para datos de costos</a:t>
            </a:r>
            <a:endParaRPr sz="2000" b="0">
              <a:solidFill>
                <a:srgbClr val="1C2733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Gimenez</cp:lastModifiedBy>
  <cp:revision>1</cp:revision>
  <dcterms:created xsi:type="dcterms:W3CDTF">2013-01-27T09:14:16Z</dcterms:created>
  <dcterms:modified xsi:type="dcterms:W3CDTF">2026-06-22T19:44:34Z</dcterms:modified>
  <cp:category/>
</cp:coreProperties>
</file>